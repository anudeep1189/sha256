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9" r:id="rId4"/>
    <p:sldId id="271" r:id="rId5"/>
    <p:sldId id="258" r:id="rId6"/>
    <p:sldId id="263" r:id="rId7"/>
    <p:sldId id="265" r:id="rId8"/>
  </p:sldIdLst>
  <p:sldSz cx="12192000" cy="6858000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Merriweather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064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6541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39404"/>
            <a:ext cx="9001125" cy="17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3F0D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The Secure Hash Algorithm (SHA)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025491" y="2488852"/>
            <a:ext cx="81410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Part I: History &amp; Evolution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524500" y="3488977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19325" y="3812827"/>
            <a:ext cx="77533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The transition from fragile cryptographic checksums to robust algorithms.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025491" y="511001"/>
            <a:ext cx="81410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History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524499" y="1508950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19324" y="1830624"/>
            <a:ext cx="775335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Hash Algorithm (SHA)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family of cryptographic hash functions published by the National Institute of Standards and Technology (NIST) as a U.S. Federal Information Processing Standard (FIPS)</a:t>
            </a:r>
          </a:p>
          <a:p>
            <a:pPr marL="342900" marR="0" lvl="0" indent="-342900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its core, a hash function takes input data of any size—whether it's a single password, an image, or a massive database—and mathematically compresses it into a fixed-size string of characters called a "hash" or "message digest." 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5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025491" y="511001"/>
            <a:ext cx="81410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Why We Use SHA ?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524499" y="1508950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19324" y="1830624"/>
            <a:ext cx="775335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 functions are not encryption; you cannot "decrypt" a hash back into the original data. Instead, they act as a unique digital fingerprint for data. To be cryptographically secure, a hash function must possess these traits:</a:t>
            </a:r>
          </a:p>
          <a:p>
            <a:pPr marL="342900" marR="0" lvl="0" indent="-342900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F4957B-9113-2543-FAFF-3EB80DE4B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9317"/>
              </p:ext>
            </p:extLst>
          </p:nvPr>
        </p:nvGraphicFramePr>
        <p:xfrm>
          <a:off x="2219324" y="3137264"/>
          <a:ext cx="8229600" cy="2682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0194392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9877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Property</a:t>
                      </a:r>
                      <a:endParaRPr lang="en-IN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IN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81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Deterministic</a:t>
                      </a:r>
                      <a:endParaRPr lang="en-IN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same exact input will always produce the same exact hash.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19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One-Way</a:t>
                      </a:r>
                      <a:endParaRPr lang="en-IN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 should be computationally impossible to guess the input from the hash.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9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Avalanche Effect</a:t>
                      </a:r>
                      <a:endParaRPr lang="en-IN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Changing just one bit of the input changes the resulting hash completely.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2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Collision Resistant</a:t>
                      </a:r>
                      <a:endParaRPr lang="en-IN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 should be nearly impossible to find two different inputs that produce the same hash.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23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48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71500" y="4076700"/>
            <a:ext cx="11049000" cy="381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07968" y="4381500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1993: SHA-0</a:t>
            </a:r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772025"/>
            <a:ext cx="254124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Published simply as </a:t>
            </a:r>
            <a:r>
              <a:rPr lang="en-US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</a:t>
            </a: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this 160-bit algorithm was quietly withdrawn by the NSA shortly after publication due to an undisclosed "significant flaw."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3343888" y="1329047"/>
            <a:ext cx="26683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1995: SHA-1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898648" y="1728716"/>
            <a:ext cx="3552931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to fix the undisclosed flaw of SHA-0, it became a global standard for over a decade. By 2005 theoretical weaknesses emerged, and in 2017 Google demonstrated a real-world collision, rendering it broken.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179808" y="4381500"/>
            <a:ext cx="26683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2001: SHA-2</a:t>
            </a:r>
            <a:endParaRPr lang="en-IN" sz="24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916168" y="4772025"/>
            <a:ext cx="3261603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</a:t>
            </a:r>
            <a:r>
              <a:rPr lang="en-US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SHA-256</a:t>
            </a: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SHA-512</a:t>
            </a: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larger bit sizes and a new mathematical structure. Today, it stands as the global gold standard for HTTPS and blockchain architectures.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960864" y="1246751"/>
            <a:ext cx="26683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2012: SHA-3</a:t>
            </a:r>
            <a:endParaRPr lang="en-IN" sz="24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202168" y="1756148"/>
            <a:ext cx="3985259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Selected via a public NIST competition. Based on the </a:t>
            </a:r>
            <a:r>
              <a:rPr lang="en-US" sz="1800" b="1" i="0" u="none" strike="noStrike" dirty="0">
                <a:solidFill>
                  <a:srgbClr val="03447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Keccak</a:t>
            </a:r>
            <a:r>
              <a:rPr lang="en-US" sz="1800" b="0" i="0" u="none" strike="noStrike" dirty="0">
                <a:solidFill>
                  <a:srgbClr val="34495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"Sponge" architecture, it differs fundamentally from SHA-2 to provide an independent cryptographic backup.</a:t>
            </a:r>
            <a:endParaRPr lang="en-US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817620" y="286060"/>
            <a:ext cx="420459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The Evolution of SHA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727820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563740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399659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235579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465421" y="2488852"/>
            <a:ext cx="926115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1CA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Part II: Industrial Applications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524500" y="3488977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685925" y="3812827"/>
            <a:ext cx="8820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DD6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Where the SHA family powers modern global infrastructure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5952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45952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45952"/>
            <a:ext cx="342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485775" y="4241452"/>
            <a:ext cx="36004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Blockchain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Consensus</a:t>
            </a:r>
            <a:endParaRPr dirty="0"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4603402"/>
            <a:ext cx="3429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Bitcoin uses a "Double SHA-256" pipeline on specialized ASIC hardware for its Proof-of-Work mining.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4295775" y="4241452"/>
            <a:ext cx="36004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Git 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Version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Control</a:t>
            </a:r>
            <a:endParaRPr dirty="0"/>
          </a:p>
        </p:txBody>
      </p:sp>
      <p:sp>
        <p:nvSpPr>
          <p:cNvPr id="196" name="Google Shape;196;p22"/>
          <p:cNvSpPr txBox="1"/>
          <p:nvPr/>
        </p:nvSpPr>
        <p:spPr>
          <a:xfrm>
            <a:off x="4381500" y="4603402"/>
            <a:ext cx="3429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Git uses hashes as globally unique identifiers for commits, currently migrating from SHA-1 to SHA-256.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8105775" y="4241452"/>
            <a:ext cx="36004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Secure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Web (TLS 1.3)</a:t>
            </a:r>
            <a:endParaRPr dirty="0"/>
          </a:p>
        </p:txBody>
      </p:sp>
      <p:sp>
        <p:nvSpPr>
          <p:cNvPr id="198" name="Google Shape;198;p22"/>
          <p:cNvSpPr txBox="1"/>
          <p:nvPr/>
        </p:nvSpPr>
        <p:spPr>
          <a:xfrm>
            <a:off x="8191500" y="4603402"/>
            <a:ext cx="3429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Modern internet connections hash every byte of the handshake transcript to prevent man-in-the-middle attacks.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0" name="Google Shape;20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00550" y="2165002"/>
            <a:ext cx="33909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10550" y="2165002"/>
            <a:ext cx="33909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Real-World Deployments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7569F3-3FCA-0D73-2CE9-DB4CD89551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15" y="2175900"/>
            <a:ext cx="3341370" cy="1829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440</Words>
  <Application>Microsoft Office PowerPoint</Application>
  <PresentationFormat>Widescreen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Merriweather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Anudeep S</dc:creator>
  <cp:lastModifiedBy>Anudeep S</cp:lastModifiedBy>
  <cp:revision>4</cp:revision>
  <dcterms:modified xsi:type="dcterms:W3CDTF">2026-06-24T18:52:56Z</dcterms:modified>
</cp:coreProperties>
</file>