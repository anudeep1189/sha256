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9" r:id="rId4"/>
    <p:sldId id="271" r:id="rId5"/>
    <p:sldId id="258" r:id="rId6"/>
    <p:sldId id="263" r:id="rId7"/>
    <p:sldId id="265" r:id="rId8"/>
  </p:sldIdLst>
  <p:sldSz cx="12192000" cy="6858000"/>
  <p:notesSz cx="6858000" cy="9144000"/>
  <p:embeddedFontLst>
    <p:embeddedFont>
      <p:font typeface="DM Sans" pitchFamily="2" charset="0"/>
      <p:regular r:id="rId10"/>
      <p:bold r:id="rId11"/>
      <p:italic r:id="rId12"/>
      <p:boldItalic r:id="rId13"/>
    </p:embeddedFont>
    <p:embeddedFont>
      <p:font typeface="Merriweather" panose="00000500000000000000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3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8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0646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66541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595437" y="2139404"/>
            <a:ext cx="9001125" cy="1466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5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The Secure Hash Algorithm (SHA)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2025491" y="2488852"/>
            <a:ext cx="8141017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Part I: History &amp; Evolution</a:t>
            </a:r>
            <a:endParaRPr/>
          </a:p>
        </p:txBody>
      </p:sp>
      <p:sp>
        <p:nvSpPr>
          <p:cNvPr id="93" name="Google Shape;93;p14"/>
          <p:cNvSpPr/>
          <p:nvPr/>
        </p:nvSpPr>
        <p:spPr>
          <a:xfrm>
            <a:off x="5524500" y="3488977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219325" y="3812827"/>
            <a:ext cx="77533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555555"/>
                </a:solidFill>
                <a:latin typeface="DM Sans"/>
                <a:ea typeface="DM Sans"/>
                <a:cs typeface="DM Sans"/>
                <a:sym typeface="DM Sans"/>
              </a:rPr>
              <a:t>The transition from fragile cryptographic checksums to robust algorithms.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2025491" y="511001"/>
            <a:ext cx="8141017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History</a:t>
            </a:r>
            <a:endParaRPr dirty="0"/>
          </a:p>
        </p:txBody>
      </p:sp>
      <p:sp>
        <p:nvSpPr>
          <p:cNvPr id="93" name="Google Shape;93;p14"/>
          <p:cNvSpPr/>
          <p:nvPr/>
        </p:nvSpPr>
        <p:spPr>
          <a:xfrm>
            <a:off x="5524499" y="1508950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219324" y="1830624"/>
            <a:ext cx="7753350" cy="3397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The </a:t>
            </a:r>
            <a:r>
              <a:rPr lang="en-US" sz="2400" b="1" dirty="0"/>
              <a:t>Secure Hash Algorithm (SHA)</a:t>
            </a:r>
            <a:r>
              <a:rPr lang="en-US" sz="2400" dirty="0"/>
              <a:t> is a family of cryptographic hash functions published by the National Institute of Standards and Technology (NIST) as a U.S. Federal Information Processing Standard (FIPS)</a:t>
            </a:r>
          </a:p>
          <a:p>
            <a:pPr marL="342900" marR="0" lvl="0" indent="-342900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At its core, a hash function takes input data of any size—whether it's a single password, an image, or a massive database—and mathematically compresses it into a fixed-size string of characters called a "hash" or "message digest."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15652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2025491" y="511001"/>
            <a:ext cx="8141017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Why We Use SHA ?</a:t>
            </a:r>
            <a:endParaRPr dirty="0"/>
          </a:p>
        </p:txBody>
      </p:sp>
      <p:sp>
        <p:nvSpPr>
          <p:cNvPr id="93" name="Google Shape;93;p14"/>
          <p:cNvSpPr/>
          <p:nvPr/>
        </p:nvSpPr>
        <p:spPr>
          <a:xfrm>
            <a:off x="5524499" y="1508950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219324" y="1830624"/>
            <a:ext cx="7753350" cy="3299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SHA functions are not encryption; you cannot "decrypt" a hash back into the original data. Instead, they act as a unique digital fingerprint for data. To be cryptographically secure, a hash function must possess these traits:</a:t>
            </a:r>
          </a:p>
          <a:p>
            <a:pPr marL="342900" marR="0" lvl="0" indent="-342900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F4957B-9113-2543-FAFF-3EB80DE4B47F}"/>
              </a:ext>
            </a:extLst>
          </p:cNvPr>
          <p:cNvGraphicFramePr>
            <a:graphicFrameLocks noGrp="1"/>
          </p:cNvGraphicFramePr>
          <p:nvPr/>
        </p:nvGraphicFramePr>
        <p:xfrm>
          <a:off x="2219324" y="4781008"/>
          <a:ext cx="8229600" cy="2682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50194392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898776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  <a:latin typeface="Google Sans Text"/>
                        </a:rPr>
                        <a:t>Property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  <a:latin typeface="Google Sans Text"/>
                        </a:rPr>
                        <a:t>Description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817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  <a:latin typeface="Google Sans Text"/>
                        </a:rPr>
                        <a:t>Deterministic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The same exact input will always produce the same exact hash.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8192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  <a:latin typeface="Google Sans Text"/>
                        </a:rPr>
                        <a:t>One-Way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It should be computationally impossible to guess the input from the hash.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14944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  <a:latin typeface="Google Sans Text"/>
                        </a:rPr>
                        <a:t>Avalanche Effect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Changing just one bit of the input changes the resulting hash completely.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8125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b="1">
                          <a:effectLst/>
                          <a:latin typeface="Google Sans Text"/>
                        </a:rPr>
                        <a:t>Collision Resistant</a:t>
                      </a:r>
                      <a:endParaRPr lang="en-IN">
                        <a:effectLst/>
                        <a:latin typeface="Google Sans Text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  <a:latin typeface="Google Sans Text"/>
                        </a:rPr>
                        <a:t>It should be nearly impossible to find two different inputs that produce the same hash.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923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8485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/>
          <p:nvPr/>
        </p:nvSpPr>
        <p:spPr>
          <a:xfrm>
            <a:off x="571500" y="4076700"/>
            <a:ext cx="11049000" cy="38100"/>
          </a:xfrm>
          <a:prstGeom prst="rect">
            <a:avLst/>
          </a:prstGeom>
          <a:solidFill>
            <a:srgbClr val="CDD6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507968" y="4381500"/>
            <a:ext cx="266830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1993: SHA-0</a:t>
            </a:r>
          </a:p>
        </p:txBody>
      </p:sp>
      <p:sp>
        <p:nvSpPr>
          <p:cNvPr id="102" name="Google Shape;102;p15"/>
          <p:cNvSpPr txBox="1"/>
          <p:nvPr/>
        </p:nvSpPr>
        <p:spPr>
          <a:xfrm>
            <a:off x="571500" y="4772025"/>
            <a:ext cx="2541240" cy="2400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34495E"/>
                </a:solidFill>
                <a:effectLst/>
                <a:latin typeface="Inter"/>
              </a:rPr>
              <a:t>Published simply as </a:t>
            </a:r>
            <a:r>
              <a:rPr lang="en-US" sz="1800" b="1" i="0" u="none" strike="noStrike" dirty="0">
                <a:solidFill>
                  <a:srgbClr val="03447C"/>
                </a:solidFill>
                <a:effectLst/>
                <a:latin typeface="Inter"/>
              </a:rPr>
              <a:t>SHA</a:t>
            </a:r>
            <a:r>
              <a:rPr lang="en-US" sz="1800" b="0" i="0" u="none" strike="noStrike" dirty="0">
                <a:solidFill>
                  <a:srgbClr val="34495E"/>
                </a:solidFill>
                <a:effectLst/>
                <a:latin typeface="Inter"/>
              </a:rPr>
              <a:t>, this 160-bit algorithm was quietly withdrawn by the NSA shortly after publication due to an undisclosed "significant flaw."</a:t>
            </a:r>
            <a:endParaRPr lang="en-US" sz="1600" b="0" dirty="0">
              <a:effectLst/>
            </a:endParaRPr>
          </a:p>
          <a:p>
            <a:br>
              <a:rPr lang="en-US" sz="1600" dirty="0"/>
            </a:br>
            <a:endParaRPr dirty="0"/>
          </a:p>
        </p:txBody>
      </p:sp>
      <p:sp>
        <p:nvSpPr>
          <p:cNvPr id="103" name="Google Shape;103;p15"/>
          <p:cNvSpPr txBox="1"/>
          <p:nvPr/>
        </p:nvSpPr>
        <p:spPr>
          <a:xfrm>
            <a:off x="3343888" y="1329047"/>
            <a:ext cx="266830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1" i="0" u="none" strike="noStrike" dirty="0">
                <a:solidFill>
                  <a:srgbClr val="03447C"/>
                </a:solidFill>
                <a:effectLst/>
                <a:latin typeface="Merriweather" panose="00000500000000000000" pitchFamily="2" charset="0"/>
              </a:rPr>
              <a:t>1995: SHA-1</a:t>
            </a:r>
            <a:endParaRPr dirty="0"/>
          </a:p>
        </p:txBody>
      </p:sp>
      <p:sp>
        <p:nvSpPr>
          <p:cNvPr id="104" name="Google Shape;104;p15"/>
          <p:cNvSpPr txBox="1"/>
          <p:nvPr/>
        </p:nvSpPr>
        <p:spPr>
          <a:xfrm>
            <a:off x="2898648" y="1728716"/>
            <a:ext cx="3552931" cy="2123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34495E"/>
                </a:solidFill>
                <a:effectLst/>
                <a:latin typeface="Inter"/>
              </a:rPr>
              <a:t>Designed to fix the undisclosed flaw of SHA-0, it became a global standard for over a decade. By 2005 theoretical weaknesses emerged, and in 2017 Google demonstrated a real-world collision, rendering it broken.</a:t>
            </a:r>
            <a:endParaRPr lang="en-US" sz="1600" b="0" dirty="0">
              <a:effectLst/>
            </a:endParaRPr>
          </a:p>
          <a:p>
            <a:br>
              <a:rPr lang="en-US" sz="1600" dirty="0"/>
            </a:b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6179808" y="4381500"/>
            <a:ext cx="26683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IN" sz="1800" b="1" i="0" u="none" strike="noStrike" dirty="0">
                <a:solidFill>
                  <a:srgbClr val="03447C"/>
                </a:solidFill>
                <a:effectLst/>
                <a:latin typeface="Merriweather" panose="00000500000000000000" pitchFamily="2" charset="0"/>
              </a:rPr>
              <a:t>2001: SHA-2</a:t>
            </a:r>
            <a:endParaRPr lang="en-IN" sz="2400" b="0" dirty="0">
              <a:effectLst/>
            </a:endParaRPr>
          </a:p>
          <a:p>
            <a:br>
              <a:rPr lang="en-IN" sz="2400" dirty="0"/>
            </a:br>
            <a:endParaRPr dirty="0"/>
          </a:p>
        </p:txBody>
      </p:sp>
      <p:sp>
        <p:nvSpPr>
          <p:cNvPr id="106" name="Google Shape;106;p15"/>
          <p:cNvSpPr txBox="1"/>
          <p:nvPr/>
        </p:nvSpPr>
        <p:spPr>
          <a:xfrm>
            <a:off x="5916168" y="4772025"/>
            <a:ext cx="3261603" cy="2123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34495E"/>
                </a:solidFill>
                <a:effectLst/>
                <a:latin typeface="Inter"/>
              </a:rPr>
              <a:t>Introduced </a:t>
            </a:r>
            <a:r>
              <a:rPr lang="en-US" sz="1800" b="1" i="0" u="none" strike="noStrike" dirty="0">
                <a:solidFill>
                  <a:srgbClr val="03447C"/>
                </a:solidFill>
                <a:effectLst/>
                <a:latin typeface="Inter"/>
              </a:rPr>
              <a:t>SHA-256</a:t>
            </a:r>
            <a:r>
              <a:rPr lang="en-US" sz="1800" b="0" i="0" u="none" strike="noStrike" dirty="0">
                <a:solidFill>
                  <a:srgbClr val="34495E"/>
                </a:solidFill>
                <a:effectLst/>
                <a:latin typeface="Inter"/>
              </a:rPr>
              <a:t> and </a:t>
            </a:r>
            <a:r>
              <a:rPr lang="en-US" sz="1800" b="1" i="0" u="none" strike="noStrike" dirty="0">
                <a:solidFill>
                  <a:srgbClr val="03447C"/>
                </a:solidFill>
                <a:effectLst/>
                <a:latin typeface="Inter"/>
              </a:rPr>
              <a:t>SHA-512</a:t>
            </a:r>
            <a:r>
              <a:rPr lang="en-US" sz="1800" b="0" i="0" u="none" strike="noStrike" dirty="0">
                <a:solidFill>
                  <a:srgbClr val="34495E"/>
                </a:solidFill>
                <a:effectLst/>
                <a:latin typeface="Inter"/>
              </a:rPr>
              <a:t> with larger bit sizes and a new mathematical structure. Today, it stands as the global gold standard for HTTPS and blockchain architectures.</a:t>
            </a:r>
            <a:endParaRPr lang="en-US" sz="1600" b="0" dirty="0">
              <a:effectLst/>
            </a:endParaRPr>
          </a:p>
          <a:p>
            <a:br>
              <a:rPr lang="en-US" sz="1600" dirty="0"/>
            </a:b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8960864" y="1246751"/>
            <a:ext cx="26683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IN" sz="1800" b="1" i="0" u="none" strike="noStrike" dirty="0">
                <a:solidFill>
                  <a:srgbClr val="03447C"/>
                </a:solidFill>
                <a:effectLst/>
                <a:latin typeface="Merriweather" panose="00000500000000000000" pitchFamily="2" charset="0"/>
              </a:rPr>
              <a:t>2012: SHA-3</a:t>
            </a:r>
            <a:endParaRPr lang="en-IN" sz="2400" b="0" dirty="0">
              <a:effectLst/>
            </a:endParaRPr>
          </a:p>
          <a:p>
            <a:br>
              <a:rPr lang="en-IN" sz="2400" dirty="0"/>
            </a:b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8202168" y="1756148"/>
            <a:ext cx="3985259" cy="1815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dirty="0">
                <a:solidFill>
                  <a:srgbClr val="34495E"/>
                </a:solidFill>
                <a:effectLst/>
                <a:latin typeface="Inter"/>
              </a:rPr>
              <a:t>Selected via a public NIST competition. Based on the </a:t>
            </a:r>
            <a:r>
              <a:rPr lang="en-US" sz="1800" b="1" i="0" u="none" strike="noStrike" dirty="0">
                <a:solidFill>
                  <a:srgbClr val="03447C"/>
                </a:solidFill>
                <a:effectLst/>
                <a:latin typeface="Inter"/>
              </a:rPr>
              <a:t>Keccak</a:t>
            </a:r>
            <a:r>
              <a:rPr lang="en-US" sz="1800" b="0" i="0" u="none" strike="noStrike" dirty="0">
                <a:solidFill>
                  <a:srgbClr val="34495E"/>
                </a:solidFill>
                <a:effectLst/>
                <a:latin typeface="Inter"/>
              </a:rPr>
              <a:t> "Sponge" architecture, it differs fundamentally from SHA-2 to provide an independent cryptographic backup.</a:t>
            </a:r>
            <a:endParaRPr lang="en-US" b="0" dirty="0">
              <a:effectLst/>
            </a:endParaRPr>
          </a:p>
          <a:p>
            <a:br>
              <a:rPr lang="en-US" dirty="0"/>
            </a:br>
            <a:endParaRPr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3817620" y="286060"/>
            <a:ext cx="420459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The Evolution of SHA</a:t>
            </a:r>
            <a:endParaRPr dirty="0"/>
          </a:p>
        </p:txBody>
      </p:sp>
      <p:sp>
        <p:nvSpPr>
          <p:cNvPr id="110" name="Google Shape;110;p15"/>
          <p:cNvSpPr/>
          <p:nvPr/>
        </p:nvSpPr>
        <p:spPr>
          <a:xfrm>
            <a:off x="1727820" y="39814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CAA0"/>
          </a:solidFill>
          <a:ln w="38100" cap="flat" cmpd="sng">
            <a:solidFill>
              <a:srgbClr val="F3F0D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4563740" y="39814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CAA0"/>
          </a:solidFill>
          <a:ln w="38100" cap="flat" cmpd="sng">
            <a:solidFill>
              <a:srgbClr val="F3F0D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7399659" y="39814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CAA0"/>
          </a:solidFill>
          <a:ln w="38100" cap="flat" cmpd="sng">
            <a:solidFill>
              <a:srgbClr val="F3F0D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10235579" y="3981450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CAA0"/>
          </a:solidFill>
          <a:ln w="38100" cap="flat" cmpd="sng">
            <a:solidFill>
              <a:srgbClr val="F3F0D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8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0"/>
          <p:cNvSpPr txBox="1"/>
          <p:nvPr/>
        </p:nvSpPr>
        <p:spPr>
          <a:xfrm>
            <a:off x="1465421" y="2488852"/>
            <a:ext cx="9261157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>
                <a:solidFill>
                  <a:srgbClr val="11CAA0"/>
                </a:solidFill>
                <a:latin typeface="Merriweather"/>
                <a:ea typeface="Merriweather"/>
                <a:cs typeface="Merriweather"/>
                <a:sym typeface="Merriweather"/>
              </a:rPr>
              <a:t>Part II: Industrial Applications</a:t>
            </a:r>
            <a:endParaRPr dirty="0"/>
          </a:p>
        </p:txBody>
      </p:sp>
      <p:sp>
        <p:nvSpPr>
          <p:cNvPr id="173" name="Google Shape;173;p20"/>
          <p:cNvSpPr/>
          <p:nvPr/>
        </p:nvSpPr>
        <p:spPr>
          <a:xfrm>
            <a:off x="5524500" y="3488977"/>
            <a:ext cx="1143000" cy="38100"/>
          </a:xfrm>
          <a:prstGeom prst="rect">
            <a:avLst/>
          </a:prstGeom>
          <a:solidFill>
            <a:srgbClr val="11CA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0"/>
          <p:cNvSpPr txBox="1"/>
          <p:nvPr/>
        </p:nvSpPr>
        <p:spPr>
          <a:xfrm>
            <a:off x="1685925" y="3812827"/>
            <a:ext cx="88201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DD6E2"/>
                </a:solidFill>
                <a:latin typeface="DM Sans"/>
                <a:ea typeface="DM Sans"/>
                <a:cs typeface="DM Sans"/>
                <a:sym typeface="DM Sans"/>
              </a:rPr>
              <a:t>Where the SHA family powers modern global infrastructure.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DF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45952"/>
            <a:ext cx="3429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145952"/>
            <a:ext cx="3429000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145952"/>
            <a:ext cx="34290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2"/>
          <p:cNvSpPr txBox="1"/>
          <p:nvPr/>
        </p:nvSpPr>
        <p:spPr>
          <a:xfrm>
            <a:off x="485775" y="4241452"/>
            <a:ext cx="3600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Blockchain Consensus</a:t>
            </a:r>
            <a:endParaRPr/>
          </a:p>
        </p:txBody>
      </p:sp>
      <p:sp>
        <p:nvSpPr>
          <p:cNvPr id="194" name="Google Shape;194;p22"/>
          <p:cNvSpPr txBox="1"/>
          <p:nvPr/>
        </p:nvSpPr>
        <p:spPr>
          <a:xfrm>
            <a:off x="571500" y="4603402"/>
            <a:ext cx="34290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Bitcoin uses a "Double SHA-256" pipeline on specialized ASIC hardware for its Proof-of-Work mining.</a:t>
            </a:r>
            <a:endParaRPr/>
          </a:p>
        </p:txBody>
      </p:sp>
      <p:sp>
        <p:nvSpPr>
          <p:cNvPr id="195" name="Google Shape;195;p22"/>
          <p:cNvSpPr txBox="1"/>
          <p:nvPr/>
        </p:nvSpPr>
        <p:spPr>
          <a:xfrm>
            <a:off x="4295775" y="4241452"/>
            <a:ext cx="3600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Git Version Control</a:t>
            </a:r>
            <a:endParaRPr/>
          </a:p>
        </p:txBody>
      </p:sp>
      <p:sp>
        <p:nvSpPr>
          <p:cNvPr id="196" name="Google Shape;196;p22"/>
          <p:cNvSpPr txBox="1"/>
          <p:nvPr/>
        </p:nvSpPr>
        <p:spPr>
          <a:xfrm>
            <a:off x="4381500" y="4603402"/>
            <a:ext cx="34290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Git uses hashes as globally unique identifiers for commits, currently migrating from SHA-1 to SHA-256.</a:t>
            </a:r>
            <a:endParaRPr/>
          </a:p>
        </p:txBody>
      </p:sp>
      <p:sp>
        <p:nvSpPr>
          <p:cNvPr id="197" name="Google Shape;197;p22"/>
          <p:cNvSpPr txBox="1"/>
          <p:nvPr/>
        </p:nvSpPr>
        <p:spPr>
          <a:xfrm>
            <a:off x="8105775" y="4241452"/>
            <a:ext cx="3600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Secure Web (TLS 1.3)</a:t>
            </a:r>
            <a:endParaRPr/>
          </a:p>
        </p:txBody>
      </p:sp>
      <p:sp>
        <p:nvSpPr>
          <p:cNvPr id="198" name="Google Shape;198;p22"/>
          <p:cNvSpPr txBox="1"/>
          <p:nvPr/>
        </p:nvSpPr>
        <p:spPr>
          <a:xfrm>
            <a:off x="8191500" y="4603402"/>
            <a:ext cx="34290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Modern internet connections hash every byte of the handshake transcript to prevent man-in-the-middle attacks.</a:t>
            </a:r>
            <a:endParaRPr/>
          </a:p>
        </p:txBody>
      </p:sp>
      <p:pic>
        <p:nvPicPr>
          <p:cNvPr id="200" name="Google Shape;200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00550" y="2165002"/>
            <a:ext cx="3390900" cy="186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210550" y="2165002"/>
            <a:ext cx="3390900" cy="1866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2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Real-World Deployments</a:t>
            </a:r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7569F3-3FCA-0D73-2CE9-DB4CD89551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15" y="2175900"/>
            <a:ext cx="3341370" cy="182935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440</Words>
  <Application>Microsoft Office PowerPoint</Application>
  <PresentationFormat>Widescreen</PresentationFormat>
  <Paragraphs>42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Calibri</vt:lpstr>
      <vt:lpstr>Merriweather</vt:lpstr>
      <vt:lpstr>Inter</vt:lpstr>
      <vt:lpstr>Google Sans Text</vt:lpstr>
      <vt:lpstr>DM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Anudeep S</dc:creator>
  <cp:lastModifiedBy>Anudeep S</cp:lastModifiedBy>
  <cp:revision>2</cp:revision>
  <dcterms:modified xsi:type="dcterms:W3CDTF">2026-06-24T15:21:05Z</dcterms:modified>
</cp:coreProperties>
</file>